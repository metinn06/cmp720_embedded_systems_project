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39b3bb81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39b3bb81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e39b3bb812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9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EMBEDDED SYSTEMS  •  EDGE AI  •  BIOMETRICS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Edge-AI Smart Access Control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Real-Time Face Recognition on STM32H7 via TFLite Micro &amp; FreeRTOS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926080"/>
            <a:ext cx="2103120" cy="86868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480 MHz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429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Cortex-M7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880360" y="2926080"/>
            <a:ext cx="2103120" cy="86868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88036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380 KB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880360" y="3429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INT8 MobileNetV1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12080" y="2926080"/>
            <a:ext cx="2103120" cy="86868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212080" y="297180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On-Device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212080" y="3429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Zero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29718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548640" y="4297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Metin Irkıçatal   •   Anıl Arda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Bare-metal firmware  ·  TFLite Micro  ·  FreeRTOS  ·  Metric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Vulnerability of Cloud Biometrics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structural weaknesses make cloud-routed biometrics unfit for mission-critical access control.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1554480"/>
            <a:ext cx="2651760" cy="731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88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Network Latency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" y="292608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round-trips introduce unpredictable delays — unacceptable for real-time access decisions at the door.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46120" y="15544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46120" y="1554480"/>
            <a:ext cx="2651760" cy="731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18288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47472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Dependency Failures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474720" y="292608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network outage takes the entire system offline — intolerable for hospitals, labs and industrial facilities.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035040" y="15544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035040" y="1554480"/>
            <a:ext cx="2651760" cy="731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8288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6263640" y="2468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Data Privacy Risks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63640" y="2926080"/>
            <a:ext cx="2286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Shipping biometric templates off-device exposes them to interception and breaks KVKK / GDPR compliance.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4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4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Secure Edge Solution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1143000"/>
            <a:ext cx="3840480" cy="352044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57200" y="1143000"/>
            <a:ext cx="384048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41732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457200" y="2788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100% On-Device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324612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All capture, inference and decision logic run inside the STM32H743ZI — no external network call at any stage.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0" y="114300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307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5257800" y="12344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Deterministic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257800" y="152704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Inference runs in hardware with bounded, predictable latency.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0" y="2029968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5257800" y="2121408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Privacy 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257800" y="241401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biometric data is confined to local memory — never leaves the chip.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0" y="2916936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0815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5257800" y="300837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Cost &amp; Energy Efficient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257800" y="330098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Orders of magnitude leaner than PC or GPU-class solutions.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0" y="3803904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39684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257800" y="389534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Ultimate 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257800" y="41879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Functional during full network blackouts — no dependency on the cloud.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Defining the System Requirements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94360" y="11430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Functional 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97280" y="18928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Accept 96×96 grayscale frame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97280" y="253288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the TFLite Micro inference pipeline locally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97280" y="31729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Emit Accept / Reject decision via GPIO &amp; UART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" y="38130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Maintain deadlock-free FreeRTOS 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800600" y="11430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Non-Functional 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846320" y="1874520"/>
            <a:ext cx="365760" cy="3657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846320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303520" y="18928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End-to-end latency  &lt;  500 ms per frame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846320" y="2514600"/>
            <a:ext cx="365760" cy="3657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846320" y="2514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303520" y="253288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Total Flash  ≤  2 MB    /    Total SRAM  ≤  1 MB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846320" y="3154680"/>
            <a:ext cx="365760" cy="3657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846320" y="3154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303520" y="31729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INT8 quantized model  &lt;  300 KB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846320" y="3794760"/>
            <a:ext cx="365760" cy="3657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846320" y="3794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303520" y="38130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FAR  &lt;  5%  </a:t>
            </a:r>
            <a:r>
              <a:rPr lang="en-US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&amp;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FRR  &lt;  10%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Expanding the Dataset via Augmentation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57200" y="1097280"/>
            <a:ext cx="91440" cy="6400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85800" y="114300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The Challenge.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AT&amp;T Face Database carries limited variation per subject, creating a high risk of model overfitting.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192024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1920240"/>
            <a:ext cx="265176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48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32588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Rotation Matrix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2834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Synthetic rotation produces angle-tolerant variants.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46120" y="192024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246120" y="1920240"/>
            <a:ext cx="265176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2148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411480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Bounding-Box Crop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474720" y="2834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Systematic crops widen the framing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035040" y="192024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035040" y="1920240"/>
            <a:ext cx="265176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21488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690372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Contrast Shift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263640" y="283464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Lighting changes simulate real-world illumination.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023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1234440" y="393192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Impact.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 diversity lets the model generalize across head poses without millions of raw photos — keeping training cheap and the dataset on-task.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MODEL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Transfer Learning: Fine-Tuning the Final Layers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1143000"/>
            <a:ext cx="822960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7724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32588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87452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42316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97180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520440" y="1554480"/>
            <a:ext cx="411480" cy="77724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1720" y="11887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777240" y="23317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Frozen Base Layers   (Feature Extraction)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737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5029200" y="1554480"/>
            <a:ext cx="41148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577840" y="1554480"/>
            <a:ext cx="41148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126480" y="1554480"/>
            <a:ext cx="41148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029200" y="12344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Trainable 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029200" y="23317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Re-trained on the augmented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2788920"/>
            <a:ext cx="397764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40080" y="292608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554480" y="297180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Leverage the Pre-trained Backbone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85800" y="361188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MobileNetV1 weights from ImageNet stay frozen — we keep the heavy convolutional features and skip the expensive training they would normally require.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709160" y="2788920"/>
            <a:ext cx="397764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892040" y="292608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806440" y="297180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Train Only the Final Layers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937760" y="361188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new head learns face-specific representations on our augmented set, adapting the network with a fraction of the compute and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8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Quantization &amp; Flashing the Updated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508760" y="1371600"/>
            <a:ext cx="548640" cy="54864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150876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Optimize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40080" y="2971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INT8 post-training quantization shrinks the fine-tuned model below 300 KB while preserving accuracy.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5536" y="23317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2976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3246120" y="25603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Compile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429000" y="2971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quantized model is converted to a C byte-array, ready to embed directly into firmware.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4456" y="23317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086600" y="1371600"/>
            <a:ext cx="548640" cy="54864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08660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2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6035040" y="25603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Flash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17920" y="29718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+ pre-computed reference embeddings are written to the STM32H7 internal Flash — fully self-contained.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1280160" y="39776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Result.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board is now completely standalone and intelligent — every byte of intelligence sits in on-chip Flash, no external dependency at runtime.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9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FIRMWARE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FreeRTOS Deterministic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114300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57200" y="1143000"/>
            <a:ext cx="1920240" cy="731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40080" y="1325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T1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0080" y="18288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Frame Capture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0080" y="21945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Priority: Highest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40080" y="24231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DMA interrupt grabs a 96×96 frame.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377440" y="18745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2560320" y="114300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2560320" y="1143000"/>
            <a:ext cx="192024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2743200" y="1325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T2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743200" y="18288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2743200" y="21945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Priority: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2743200" y="24231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INT8 normalization + tensor pack.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480560" y="18745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663440" y="114300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663440" y="1143000"/>
            <a:ext cx="192024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846320" y="1325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T3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46320" y="18288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846320" y="21945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Priority: Lowest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846320" y="24231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TFLite Micro runs the network.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583680" y="18745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766560" y="1143000"/>
            <a:ext cx="1920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766560" y="1143000"/>
            <a:ext cx="192024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949440" y="1325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T4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949440" y="18288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Access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949440" y="219456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Priority: 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949440" y="24231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GPIO + UART emit the decision.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85800" y="3291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Deterministic Scheduling Constraints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77240" y="3611880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T1 holds the highest priority — DMA interrupts are serviced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T3 (neural net) holds the lowest priority — heavy compute can never starve time-critical capture.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Tasks are linked sequentially through semaphores and queues — deadlock-free by construction.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0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0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INFERENCE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Metric Learning: Cross-Similarity Inference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1143000"/>
            <a:ext cx="393192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We don't classify — we compare.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40080" y="1783080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TFLite Micro network acts as a feature extractor. Its penultimate layer outputs a unique numerical embedding for every face it sees.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40080" y="2743200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 measure the cosine similarity between the live embedding and reference embeddings stored in Flash. A high similarity = a biometric match.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40080" y="3794760"/>
            <a:ext cx="3611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New users are enrolled by storing a fresh reference vector — no model retraining required.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663440" y="1143000"/>
            <a:ext cx="4023300" cy="35205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67E8F9"/>
                </a:solidFill>
                <a:latin typeface="Cambria"/>
                <a:ea typeface="Cambria"/>
                <a:cs typeface="Cambria"/>
                <a:sym typeface="Cambria"/>
              </a:rPr>
              <a:t>Cosine Similarity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1"/>
          <p:cNvCxnSpPr/>
          <p:nvPr/>
        </p:nvCxnSpPr>
        <p:spPr>
          <a:xfrm>
            <a:off x="5669280" y="2011680"/>
            <a:ext cx="0" cy="201168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1"/>
          <p:cNvCxnSpPr/>
          <p:nvPr/>
        </p:nvCxnSpPr>
        <p:spPr>
          <a:xfrm>
            <a:off x="5669280" y="4023360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1"/>
          <p:cNvSpPr/>
          <p:nvPr/>
        </p:nvSpPr>
        <p:spPr>
          <a:xfrm>
            <a:off x="6640560" y="2139758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Reference vector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420335" y="2574110"/>
            <a:ext cx="141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Live vector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316640" y="329216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663440" y="4251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θ  →  high cos(θ)  →  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1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1"/>
          <p:cNvCxnSpPr/>
          <p:nvPr/>
        </p:nvCxnSpPr>
        <p:spPr>
          <a:xfrm flipH="1" rot="10800000">
            <a:off x="5659275" y="2828675"/>
            <a:ext cx="2062200" cy="1201200"/>
          </a:xfrm>
          <a:prstGeom prst="straightConnector1">
            <a:avLst/>
          </a:prstGeom>
          <a:noFill/>
          <a:ln cap="flat" cmpd="sng" w="38100">
            <a:solidFill>
              <a:srgbClr val="67E8F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90" name="Google Shape;290;p11"/>
          <p:cNvCxnSpPr/>
          <p:nvPr/>
        </p:nvCxnSpPr>
        <p:spPr>
          <a:xfrm flipH="1" rot="10800000">
            <a:off x="5667575" y="2456175"/>
            <a:ext cx="1366500" cy="156540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HARDWARE BRING-UP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From Theory to Practice: Hardware Transition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57200" y="1143000"/>
            <a:ext cx="3657600" cy="176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7200" y="1143000"/>
            <a:ext cx="3657600" cy="3657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594360" y="1176245"/>
            <a:ext cx="3474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YESTERDAY  /  VIRTUAL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220" y="1711563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776200" y="1563025"/>
            <a:ext cx="3657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Renode Simulation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377250" y="1918176"/>
            <a:ext cx="26004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Memory-mapped virtual environment exposed UART and ST-LINK without real electrical interfaces — letting us build and prove the firmware stack purely in software.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757275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5029200" y="1143000"/>
            <a:ext cx="3657600" cy="1768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5029200" y="1143000"/>
            <a:ext cx="3657600" cy="3657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166360" y="1176245"/>
            <a:ext cx="3474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  /  PHYSICAL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2476" y="1786510"/>
            <a:ext cx="673075" cy="6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6206025" y="1548180"/>
            <a:ext cx="222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STM32H743ZI 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040275" y="1711325"/>
            <a:ext cx="2555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The same firmware now runs on real silicon — bare-metal, no HAL, direct register access. The transition validates that our software works in both simulated and physical environments.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2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2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125" y="3082925"/>
            <a:ext cx="8765249" cy="23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COMMUNICATION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UART &amp; Frame Protocol 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1143000"/>
            <a:ext cx="1828800" cy="10058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Sync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0xAA 0x55 0xAA 0x55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286000" y="1143000"/>
            <a:ext cx="1371600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2286000" y="12344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Length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286000" y="15544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286000" y="1828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657600" y="1143000"/>
            <a:ext cx="3200400" cy="100584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65760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Payload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657600" y="1554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 × 96 grayscale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657600" y="18288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9216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858000" y="1143000"/>
            <a:ext cx="1645920" cy="10058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858000" y="12344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CRC-16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858000" y="15544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CCITT-FALSE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858000" y="18288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Total frame  →  ~9224 B  •  bare-metal uart.c &amp; frame_proto.c drivers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57200" y="2606040"/>
            <a:ext cx="397764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834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1371600" y="28803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Error Recovery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85800" y="352044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4-byte sync-pattern hunt re-locks the receiver after any framing slip — no permanent loss of sync on the wire.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709160" y="2606040"/>
            <a:ext cx="397764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834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3"/>
          <p:cNvSpPr/>
          <p:nvPr/>
        </p:nvSpPr>
        <p:spPr>
          <a:xfrm>
            <a:off x="5623560" y="28803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Integrity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937760" y="352044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CRC-16/CCITT-FALSE validates every payload — only loss-free frames reach the TFLite Micro engine.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3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3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WHAT CHANGED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Architectural Comparison: Virtual vs. Real Hardware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57200" y="1143000"/>
            <a:ext cx="2286000" cy="50292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2743200" y="1143000"/>
            <a:ext cx="2926080" cy="50292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669280" y="1143000"/>
            <a:ext cx="3017520" cy="50292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48640" y="1234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Component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83464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Renode (Virtual)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5760720" y="12344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STM32H7 (Real Hardware)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457200" y="1645920"/>
            <a:ext cx="22860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2743200" y="1645920"/>
            <a:ext cx="2926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5669280" y="1645920"/>
            <a:ext cx="30175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94360" y="1737360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Camera I/O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2880360" y="1737360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Memory-mapped virtual sensor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806440" y="1737360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16 KB interrupt-based UART RX ring buffer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57200" y="2359152"/>
            <a:ext cx="228600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2743200" y="2359152"/>
            <a:ext cx="292608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5669280" y="2359152"/>
            <a:ext cx="301752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594360" y="2450592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Output Logging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880360" y="2450592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Virtual terminal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806440" y="2450592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Physical GPIO + PC-parseable [RESULT]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57200" y="3072384"/>
            <a:ext cx="22860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2743200" y="3072384"/>
            <a:ext cx="2926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5669280" y="3072384"/>
            <a:ext cx="30175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594360" y="3163824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System Clock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2880360" y="3163824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Cycle-accurate virtual clock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806440" y="3163824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64 MHz HSI clock (real silicon)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57200" y="3785616"/>
            <a:ext cx="228600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2743200" y="3785616"/>
            <a:ext cx="292608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5669280" y="3785616"/>
            <a:ext cx="3017520" cy="7132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94360" y="387705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Interrupt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2880360" y="3877056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Simplified virtual NVIC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806440" y="3877056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Full 166-entry vector table via startup.s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4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4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457200" y="502927"/>
            <a:ext cx="82296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Real-World Test Automation: Python Host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131175" y="1360900"/>
            <a:ext cx="5875200" cy="14673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448" y="1688813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/>
          <p:nvPr/>
        </p:nvSpPr>
        <p:spPr>
          <a:xfrm>
            <a:off x="1238322" y="1700475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Python Host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238322" y="2066235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AT&amp;T dataset reader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8888" y="1837575"/>
            <a:ext cx="54864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5"/>
          <p:cNvSpPr/>
          <p:nvPr/>
        </p:nvSpPr>
        <p:spPr>
          <a:xfrm>
            <a:off x="2283160" y="2203315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UART @ 115200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6303" y="1683363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5"/>
          <p:cNvSpPr/>
          <p:nvPr/>
        </p:nvSpPr>
        <p:spPr>
          <a:xfrm>
            <a:off x="4420703" y="1683363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STM32H7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420703" y="2049123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Returns [RESULT] flags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31175" y="2932850"/>
            <a:ext cx="2861100" cy="1843200"/>
          </a:xfrm>
          <a:prstGeom prst="rect">
            <a:avLst/>
          </a:prstGeom>
          <a:solidFill>
            <a:srgbClr val="FFFFFF"/>
          </a:solidFill>
          <a:ln cap="flat" cmpd="sng" w="113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6521" rotWithShape="0" algn="bl" dir="5400000" dist="34130">
              <a:srgbClr val="0F172A">
                <a:alpha val="7843"/>
              </a:srgbClr>
            </a:outerShdw>
          </a:effectLst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4"/>
          </a:p>
        </p:txBody>
      </p:sp>
      <p:sp>
        <p:nvSpPr>
          <p:cNvPr id="407" name="Google Shape;407;p15"/>
          <p:cNvSpPr/>
          <p:nvPr/>
        </p:nvSpPr>
        <p:spPr>
          <a:xfrm>
            <a:off x="225675" y="2932838"/>
            <a:ext cx="2714400" cy="65700"/>
          </a:xfrm>
          <a:prstGeom prst="rect">
            <a:avLst/>
          </a:prstGeom>
          <a:solidFill>
            <a:srgbClr val="0891B2"/>
          </a:solidFill>
          <a:ln cap="flat" cmpd="sng" w="1137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8" name="Google Shape;4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678" y="3178574"/>
            <a:ext cx="514803" cy="45051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5"/>
          <p:cNvSpPr/>
          <p:nvPr/>
        </p:nvSpPr>
        <p:spPr>
          <a:xfrm>
            <a:off x="1114886" y="3219530"/>
            <a:ext cx="177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4"/>
              <a:buFont typeface="Cambria"/>
              <a:buNone/>
            </a:pPr>
            <a:r>
              <a:rPr b="1" i="0" lang="en-US" sz="1254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Image Pipeline</a:t>
            </a:r>
            <a:endParaRPr b="0" i="0" sz="12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459678" y="3751960"/>
            <a:ext cx="2340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5"/>
              <a:buFont typeface="Calibri"/>
              <a:buNone/>
            </a:pPr>
            <a:r>
              <a:rPr b="0" i="0" lang="en-US" sz="985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Reads PGM images on the fly and rescales them to the 96×96 format expected by the board.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043625" y="2938525"/>
            <a:ext cx="2962800" cy="1843200"/>
          </a:xfrm>
          <a:prstGeom prst="rect">
            <a:avLst/>
          </a:prstGeom>
          <a:solidFill>
            <a:srgbClr val="FFFFFF"/>
          </a:solidFill>
          <a:ln cap="flat" cmpd="sng" w="113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6521" rotWithShape="0" algn="bl" dir="5400000" dist="34130">
              <a:srgbClr val="0F172A">
                <a:alpha val="7843"/>
              </a:srgbClr>
            </a:outerShdw>
          </a:effectLst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3197535" y="2921938"/>
            <a:ext cx="2714400" cy="65700"/>
          </a:xfrm>
          <a:prstGeom prst="rect">
            <a:avLst/>
          </a:prstGeom>
          <a:solidFill>
            <a:srgbClr val="0891B2"/>
          </a:solidFill>
          <a:ln cap="flat" cmpd="sng" w="1137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7713" y="3206599"/>
            <a:ext cx="514803" cy="450517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5"/>
          <p:cNvSpPr/>
          <p:nvPr/>
        </p:nvSpPr>
        <p:spPr>
          <a:xfrm>
            <a:off x="3922921" y="3247555"/>
            <a:ext cx="177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4"/>
              <a:buFont typeface="Cambria"/>
              <a:buNone/>
            </a:pPr>
            <a:r>
              <a:rPr b="1" i="0" lang="en-US" sz="1254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Protocol Framing</a:t>
            </a:r>
            <a:endParaRPr b="0" i="0" sz="12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3267713" y="3779985"/>
            <a:ext cx="2340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5"/>
              <a:buFont typeface="Calibri"/>
              <a:buNone/>
            </a:pPr>
            <a:r>
              <a:rPr b="0" i="0" lang="en-US" sz="985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Wraps each frame with the sync header, length, payload and CRC required by the firmware.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075775" y="2927125"/>
            <a:ext cx="2962800" cy="1843200"/>
          </a:xfrm>
          <a:prstGeom prst="rect">
            <a:avLst/>
          </a:prstGeom>
          <a:solidFill>
            <a:srgbClr val="FFFFFF"/>
          </a:solidFill>
          <a:ln cap="flat" cmpd="sng" w="113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36521" rotWithShape="0" algn="bl" dir="5400000" dist="34130">
              <a:srgbClr val="0F172A">
                <a:alpha val="7843"/>
              </a:srgbClr>
            </a:outerShdw>
          </a:effectLst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6169383" y="2927125"/>
            <a:ext cx="2714400" cy="65700"/>
          </a:xfrm>
          <a:prstGeom prst="rect">
            <a:avLst/>
          </a:prstGeom>
          <a:solidFill>
            <a:srgbClr val="0891B2"/>
          </a:solidFill>
          <a:ln cap="flat" cmpd="sng" w="1137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00" lIns="81900" spcFirstLastPara="1" rIns="81900" wrap="square" tIns="8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8" name="Google Shape;4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3386" y="3172862"/>
            <a:ext cx="514803" cy="45051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5"/>
          <p:cNvSpPr/>
          <p:nvPr/>
        </p:nvSpPr>
        <p:spPr>
          <a:xfrm>
            <a:off x="7058594" y="3213818"/>
            <a:ext cx="17784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4"/>
              <a:buFont typeface="Cambria"/>
              <a:buNone/>
            </a:pPr>
            <a:r>
              <a:rPr b="1" i="0" lang="en-US" sz="1254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Batch Testing</a:t>
            </a:r>
            <a:endParaRPr b="0" i="0" sz="12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6403386" y="3746248"/>
            <a:ext cx="2340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85"/>
              <a:buFont typeface="Calibri"/>
              <a:buNone/>
            </a:pPr>
            <a:r>
              <a:rPr b="0" i="0" lang="en-US" sz="985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Streams frames from 40 subjects, parses the [RESULT] tags, computes FAR / FRR on real hardware.</a:t>
            </a:r>
            <a:endParaRPr b="0" i="0" sz="9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15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5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5775" y="1338050"/>
            <a:ext cx="2962799" cy="1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MEASUREMENTS — 64 MHz SNAPSHOT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Hardware Performance &amp; Resource Utilization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57200" y="1143000"/>
            <a:ext cx="26517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548640" y="137160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622 KB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4864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Flash usage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30% of 2 MB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640080" y="28346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Holds the INT8 model and the entire FreeRTOS firmware. Well below capacity.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3246120" y="1143000"/>
            <a:ext cx="26517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3337560" y="137160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395 KB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333756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SRAM usage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38% of 1 MB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3429000" y="28346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Includes the 16 KB UART RX buffer and the 2048-word inference stack. Plenty of headroom.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035040" y="1143000"/>
            <a:ext cx="26517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F172A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6126480" y="137160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37 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12648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AI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126480" y="2514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@ 64 MHz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6217920" y="28346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Already excellent at low clock. Expected to drop to ~5 ms at 480 MHz PLL.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023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6"/>
          <p:cNvSpPr/>
          <p:nvPr/>
        </p:nvSpPr>
        <p:spPr>
          <a:xfrm>
            <a:off x="1280160" y="38862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Today's bottleneck.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time is dominated by the ~800 ms UART transfer at 115 200 baud — not compute. The next slide attacks exactly that.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16"/>
          <p:cNvCxnSpPr/>
          <p:nvPr/>
        </p:nvCxnSpPr>
        <p:spPr>
          <a:xfrm>
            <a:off x="457200" y="4892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6"/>
          <p:cNvSpPr/>
          <p:nvPr/>
        </p:nvSpPr>
        <p:spPr>
          <a:xfrm>
            <a:off x="457200" y="49377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772400" y="4937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75" y="-12"/>
            <a:ext cx="7434950" cy="489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7"/>
          <p:cNvSpPr/>
          <p:nvPr/>
        </p:nvSpPr>
        <p:spPr>
          <a:xfrm>
            <a:off x="7638825" y="247025"/>
            <a:ext cx="1411800" cy="1300500"/>
          </a:xfrm>
          <a:prstGeom prst="rect">
            <a:avLst/>
          </a:prstGeom>
          <a:solidFill>
            <a:srgbClr val="FFFFFF"/>
          </a:solidFill>
          <a:ln cap="flat" cmpd="sng" w="8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2479" rotWithShape="0" algn="bl" dir="5400000" dist="25620">
              <a:srgbClr val="0F172A">
                <a:alpha val="7840"/>
              </a:srgbClr>
            </a:outerShdw>
          </a:effectLst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1"/>
          </a:p>
        </p:txBody>
      </p:sp>
      <p:sp>
        <p:nvSpPr>
          <p:cNvPr id="460" name="Google Shape;460;p17"/>
          <p:cNvSpPr/>
          <p:nvPr/>
        </p:nvSpPr>
        <p:spPr>
          <a:xfrm>
            <a:off x="7638825" y="247025"/>
            <a:ext cx="32700" cy="1300500"/>
          </a:xfrm>
          <a:prstGeom prst="rect">
            <a:avLst/>
          </a:prstGeom>
          <a:solidFill>
            <a:srgbClr val="0891B2"/>
          </a:solidFill>
          <a:ln cap="flat" cmpd="sng" w="8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257300" y="491491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Edge-AI Smart Access Control  •  STM32H7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373125" y="1338520"/>
            <a:ext cx="2674800" cy="17832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2479" rotWithShape="0" algn="bl" dir="5400000" dist="25620">
              <a:srgbClr val="0F172A">
                <a:alpha val="7840"/>
              </a:srgbClr>
            </a:outerShdw>
          </a:effectLst>
        </p:spPr>
        <p:txBody>
          <a:bodyPr anchorCtr="0" anchor="ctr" bIns="61450" lIns="61450" spcFirstLastPara="1" rIns="61450" wrap="square" tIns="6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373125" y="1338520"/>
            <a:ext cx="61200" cy="1783200"/>
          </a:xfrm>
          <a:prstGeom prst="rect">
            <a:avLst/>
          </a:prstGeom>
          <a:solidFill>
            <a:srgbClr val="0891B2"/>
          </a:solidFill>
          <a:ln cap="flat" cmpd="sng" w="85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50" lIns="61450" spcFirstLastPara="1" rIns="61450" wrap="square" tIns="6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526843" y="1461495"/>
            <a:ext cx="5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83"/>
              <a:buFont typeface="Cambria"/>
              <a:buNone/>
            </a:pPr>
            <a:r>
              <a:rPr b="1" i="0" lang="en-US" sz="1883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8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661" y="1492238"/>
            <a:ext cx="338179" cy="33817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7"/>
          <p:cNvSpPr/>
          <p:nvPr/>
        </p:nvSpPr>
        <p:spPr>
          <a:xfrm>
            <a:off x="526843" y="1891905"/>
            <a:ext cx="245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43"/>
              <a:buFont typeface="Cambria"/>
              <a:buNone/>
            </a:pPr>
            <a:r>
              <a:rPr b="1" i="0" lang="en-US" sz="1143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Clock Bring-up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526843" y="2199340"/>
            <a:ext cx="24594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73"/>
              <a:buFont typeface="Calibri"/>
              <a:buNone/>
            </a:pPr>
            <a:r>
              <a:rPr b="0" i="0" lang="en-US" sz="773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Migrate from the 64 MHz HSI to the 480 MHz PLL via VOS0 voltage scaling. Inference target drops to ~5 ms, exposing the data-transfer wall as the next limiter.</a:t>
            </a:r>
            <a:endParaRPr b="0" i="0" sz="7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6296500" y="3203200"/>
            <a:ext cx="2674800" cy="1782900"/>
          </a:xfrm>
          <a:prstGeom prst="rect">
            <a:avLst/>
          </a:prstGeom>
          <a:solidFill>
            <a:srgbClr val="FFFFFF"/>
          </a:solidFill>
          <a:ln cap="flat" cmpd="sng" w="8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2479" rotWithShape="0" algn="bl" dir="5400000" dist="25620">
              <a:srgbClr val="0F172A">
                <a:alpha val="7840"/>
              </a:srgbClr>
            </a:outerShdw>
          </a:effectLst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1"/>
          </a:p>
        </p:txBody>
      </p:sp>
      <p:sp>
        <p:nvSpPr>
          <p:cNvPr id="469" name="Google Shape;469;p17"/>
          <p:cNvSpPr/>
          <p:nvPr/>
        </p:nvSpPr>
        <p:spPr>
          <a:xfrm>
            <a:off x="6296500" y="3203200"/>
            <a:ext cx="61800" cy="1782900"/>
          </a:xfrm>
          <a:prstGeom prst="rect">
            <a:avLst/>
          </a:prstGeom>
          <a:solidFill>
            <a:srgbClr val="0891B2"/>
          </a:solidFill>
          <a:ln cap="flat" cmpd="sng" w="8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6450219" y="3326175"/>
            <a:ext cx="5532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83"/>
              <a:buFont typeface="Cambria"/>
              <a:buNone/>
            </a:pPr>
            <a:r>
              <a:rPr b="1" i="0" lang="en-US" sz="1883" u="none" cap="none" strike="noStrike">
                <a:solidFill>
                  <a:srgbClr val="0891B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8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0049" y="3356919"/>
            <a:ext cx="338181" cy="338181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7"/>
          <p:cNvSpPr/>
          <p:nvPr/>
        </p:nvSpPr>
        <p:spPr>
          <a:xfrm>
            <a:off x="6450219" y="3756588"/>
            <a:ext cx="245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43"/>
              <a:buFont typeface="Cambria"/>
              <a:buNone/>
            </a:pPr>
            <a:r>
              <a:rPr b="1" i="0" lang="en-US" sz="1143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DMA-based Comms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450219" y="4064026"/>
            <a:ext cx="2459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73"/>
              <a:buFont typeface="Calibri"/>
              <a:buNone/>
            </a:pPr>
            <a:r>
              <a:rPr b="0" i="0" lang="en-US" sz="773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Replace interrupt-driven UART RX with DMA + idle-line detection. CPU is fully bypassed during transfer, eliminating per-byte overhead.</a:t>
            </a:r>
            <a:endParaRPr b="0" i="0" sz="7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457200" y="24702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457200" y="5029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Future Steps: </a:t>
            </a:r>
            <a:endParaRPr b="1" i="0" sz="2400" u="none" cap="none" strike="noStrike">
              <a:solidFill>
                <a:srgbClr val="0B1F3A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Maximum Performance Optimization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7697825" y="247025"/>
            <a:ext cx="1249500" cy="12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Target.  </a:t>
            </a: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End-to-end latency below </a:t>
            </a:r>
            <a: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00 ms with zero CPU overhead on UART reception.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Questions are welcome.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1463040" y="3703320"/>
            <a:ext cx="2011680" cy="45720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1463040" y="3703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TFLite Micro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3657600" y="3703320"/>
            <a:ext cx="2011680" cy="45720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3657600" y="3703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FreeRTOS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5852160" y="3703320"/>
            <a:ext cx="2011680" cy="457200"/>
          </a:xfrm>
          <a:prstGeom prst="rect">
            <a:avLst/>
          </a:prstGeom>
          <a:solidFill>
            <a:srgbClr val="13294B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8"/>
          <p:cNvSpPr/>
          <p:nvPr/>
        </p:nvSpPr>
        <p:spPr>
          <a:xfrm>
            <a:off x="5852160" y="3703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STM32H7 — bare-metal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Metin Irkıçatal   •   Anıl Arda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